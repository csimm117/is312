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13"/>
  </p:notesMasterIdLst>
  <p:handoutMasterIdLst>
    <p:handoutMasterId r:id="rId14"/>
  </p:handoutMasterIdLst>
  <p:sldIdLst>
    <p:sldId id="307" r:id="rId2"/>
    <p:sldId id="284" r:id="rId3"/>
    <p:sldId id="285" r:id="rId4"/>
    <p:sldId id="293" r:id="rId5"/>
    <p:sldId id="303" r:id="rId6"/>
    <p:sldId id="308" r:id="rId7"/>
    <p:sldId id="295" r:id="rId8"/>
    <p:sldId id="296" r:id="rId9"/>
    <p:sldId id="297" r:id="rId10"/>
    <p:sldId id="298" r:id="rId11"/>
    <p:sldId id="302" r:id="rId12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1597" autoAdjust="0"/>
  </p:normalViewPr>
  <p:slideViewPr>
    <p:cSldViewPr>
      <p:cViewPr varScale="1">
        <p:scale>
          <a:sx n="60" d="100"/>
          <a:sy n="60" d="100"/>
        </p:scale>
        <p:origin x="154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40940C-6389-4005-B356-28402A411BB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 dirty="0"/>
          </a:p>
        </p:txBody>
      </p:sp>
    </p:spTree>
    <p:extLst>
      <p:ext uri="{BB962C8B-B14F-4D97-AF65-F5344CB8AC3E}">
        <p14:creationId xmlns:p14="http://schemas.microsoft.com/office/powerpoint/2010/main" val="2187173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8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1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9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17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41C25-7A1F-47FB-B705-003A328B91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06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27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95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77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81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7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 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1905000"/>
            <a:ext cx="9144000" cy="4419600"/>
          </a:xfrm>
          <a:prstGeom prst="rect">
            <a:avLst/>
          </a:prstGeom>
          <a:solidFill>
            <a:srgbClr val="FFFFCC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rgbClr val="66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457200" y="76200"/>
            <a:ext cx="8153399" cy="1676400"/>
          </a:xfrm>
        </p:spPr>
        <p:txBody>
          <a:bodyPr anchor="b" anchorCtr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4400" baseline="0">
                <a:solidFill>
                  <a:srgbClr val="6600C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0"/>
          <p:cNvSpPr>
            <a:spLocks noGrp="1"/>
          </p:cNvSpPr>
          <p:nvPr>
            <p:ph sz="quarter" idx="15"/>
          </p:nvPr>
        </p:nvSpPr>
        <p:spPr>
          <a:xfrm>
            <a:off x="609600" y="2286000"/>
            <a:ext cx="8001000" cy="3962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0" y="1905000"/>
            <a:ext cx="85344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25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98500" y="1415419"/>
            <a:ext cx="7747000" cy="1674305"/>
          </a:xfrm>
        </p:spPr>
        <p:txBody>
          <a:bodyPr/>
          <a:lstStyle/>
          <a:p>
            <a:pPr eaLnBrk="1" hangingPunct="1"/>
            <a:r>
              <a:rPr lang="en-US" altLang="en-US" sz="4400" dirty="0"/>
              <a:t>Principles of Information Systems (13</a:t>
            </a:r>
            <a:r>
              <a:rPr lang="en-US" altLang="en-US" sz="4400" baseline="30000" dirty="0"/>
              <a:t>th</a:t>
            </a:r>
            <a:r>
              <a:rPr lang="en-US" altLang="en-US" sz="4400" dirty="0"/>
              <a:t> Edition)</a:t>
            </a:r>
            <a:br>
              <a:rPr lang="en-US" altLang="en-US" sz="4000" dirty="0"/>
            </a:br>
            <a:endParaRPr lang="en-US" altLang="en-US" sz="4000" dirty="0"/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581400"/>
            <a:ext cx="8305800" cy="120648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u="sng" dirty="0"/>
              <a:t>Chapter/Unit 1-2:</a:t>
            </a:r>
          </a:p>
          <a:p>
            <a:pPr>
              <a:lnSpc>
                <a:spcPct val="90000"/>
              </a:lnSpc>
            </a:pPr>
            <a:r>
              <a:rPr lang="en-US" sz="3600" b="1" dirty="0"/>
              <a:t>Careers in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257998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762000" y="544940"/>
            <a:ext cx="8026400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Careers in Information Systems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152400" y="1333500"/>
            <a:ext cx="4038600" cy="47625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A successful IS worker must: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Enjoy working in a fast-paced, dynamic environment.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Meet deadline and solve unexpected challenges.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have good communication skills.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Have solid analytical and decision-making skills.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Develop effective teamwork and leadership skills.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Be adept at implementing organization changes.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/>
              <a:t>Be prepared for life-long learning in the rapidly changing IS field.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5784E3-DA33-4E15-8CD8-A231FF515FB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dirty="0"/>
          </a:p>
        </p:txBody>
      </p:sp>
      <p:pic>
        <p:nvPicPr>
          <p:cNvPr id="1028" name="Picture 4" descr="Image result for information technology work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453390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29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762000" y="544940"/>
            <a:ext cx="8026400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Careers in Information Systems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228601" y="1081980"/>
            <a:ext cx="3733799" cy="630942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dirty="0"/>
              <a:t>Technical skills for IS workers: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Capability to analyze large amounts of structured and unstructured data: Data scientist.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Ability to design/build applications for mobile and wired devices: System analyst.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Programing and application development skills: Programmer.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Technical support expertise.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Project management skills.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Knowledge of networking and cloud computing.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Ability to audit systems and implement security measures.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Web design skills.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en-US" dirty="0"/>
              <a:t>Knowledge of data center operations.</a:t>
            </a:r>
          </a:p>
          <a:p>
            <a:pPr marL="228600" lvl="1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US" alt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B34494-2555-498D-A556-7997530FA0D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dirty="0"/>
          </a:p>
        </p:txBody>
      </p:sp>
      <p:pic>
        <p:nvPicPr>
          <p:cNvPr id="2050" name="Picture 2" descr="Image result for Technical skill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9" r="2546"/>
          <a:stretch/>
        </p:blipFill>
        <p:spPr bwMode="auto">
          <a:xfrm>
            <a:off x="4191000" y="2298203"/>
            <a:ext cx="4876800" cy="293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46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17375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Roles, Functions, and Careers in IS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3581400" cy="449353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800" dirty="0"/>
              <a:t>In addition to technical skills, IS professionals need: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Skills in written and verbal communication.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Understanding of organizations and the way they operate.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The ability to work with people and in groups.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BE2E5-87BD-43B0-8051-7BA58191888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/>
          </a:p>
        </p:txBody>
      </p:sp>
      <p:pic>
        <p:nvPicPr>
          <p:cNvPr id="3074" name="Picture 2" descr="Image result for information technology professio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1200"/>
            <a:ext cx="418382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00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762000" y="492105"/>
            <a:ext cx="7086600" cy="422295"/>
          </a:xfrm>
        </p:spPr>
        <p:txBody>
          <a:bodyPr/>
          <a:lstStyle/>
          <a:p>
            <a:pPr algn="ctr"/>
            <a:r>
              <a:rPr lang="en-US" altLang="en-US" sz="3200" b="1" dirty="0"/>
              <a:t>Working in Team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577486" y="1447800"/>
            <a:ext cx="3842114" cy="45443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IS careers involve working in project teams that can consist of many positions and roles.</a:t>
            </a:r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/>
              <a:t>It is always good for IS professionals to: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600" dirty="0"/>
              <a:t>Have good communications skills and the ability to work with other people.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34A707D-3D2E-473A-B8CB-ACCF3B478BA9}" type="slidenum">
              <a:rPr lang="en-US" altLang="en-US" sz="1400" smtClean="0">
                <a:solidFill>
                  <a:srgbClr val="222222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2" descr="Image result for team work quo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31627"/>
            <a:ext cx="3947031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20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2400" y="76200"/>
            <a:ext cx="8763000" cy="9144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/>
              <a:t>Build Skillset, Mindset, and Knowledge to Capture Career Opportunities and Manage Information Resources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7772400" cy="54483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92DC9-9688-4E44-A90B-C333AD8FEA0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05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762000" y="492105"/>
            <a:ext cx="8026400" cy="422295"/>
          </a:xfrm>
        </p:spPr>
        <p:txBody>
          <a:bodyPr/>
          <a:lstStyle/>
          <a:p>
            <a:pPr algn="ctr"/>
            <a:r>
              <a:rPr lang="en-US" altLang="en-US" sz="3200" b="1" dirty="0"/>
              <a:t>IS Job Titles and Functions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76201" y="1320254"/>
            <a:ext cx="3733799" cy="51244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Chief information officer (CIO) employs IS resources and personnel to help the organization succeed.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/>
              <a:t>Senior IS Manager: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200" dirty="0"/>
              <a:t>VP of IS.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200" dirty="0"/>
              <a:t>Chief technology officer (CTO)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200" dirty="0"/>
              <a:t>Central role to communicate with other areas of the organization to determine business needs for 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8D9A8A-39F7-47E4-8C35-B88DDBFD572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dirty="0"/>
          </a:p>
        </p:txBody>
      </p:sp>
      <p:pic>
        <p:nvPicPr>
          <p:cNvPr id="5122" name="Picture 2" descr="Image result for information technology profess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94" y="2057400"/>
            <a:ext cx="508168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7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762000" y="544940"/>
            <a:ext cx="8026400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IS Job Titles and Functions: Operations Roles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728662" y="1295400"/>
            <a:ext cx="8059738" cy="327782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/>
              <a:t>Data center manager: Responsible for the maintenance and operation of the organization’s computing facilities.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/>
              <a:t>System operator: Run and maintain IS resources.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/>
              <a:t>IS security analyst: Responsible for maintaining security and integrity of organizations’ systems and data.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en-US" sz="2400" dirty="0"/>
              <a:t>Local area network (LAN) administrator: Set up and manage computer network hardware, software, and security processes.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D1651-FBA3-42B5-8EE3-868C4E7924D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205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762000" y="544940"/>
            <a:ext cx="7772400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IS Job Titles and Functions: Development Role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974175" y="1265396"/>
            <a:ext cx="7636425" cy="4678204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Software developer: Write software that customers and employees use.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Systems analyst: Consult with managers and users, as well as convey system requirements to software developers and network architects.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Programmer: Convert a program design developed by a systems analyst or software developer into computer languages.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Web developer: Design and maintain Web sites, including site layout and function, to meet client’s requirements.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82385C-BAA7-4ABF-9782-97311B8DCA1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3819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762000" y="544940"/>
            <a:ext cx="7772400" cy="369460"/>
          </a:xfrm>
        </p:spPr>
        <p:txBody>
          <a:bodyPr/>
          <a:lstStyle/>
          <a:p>
            <a:pPr algn="ctr"/>
            <a:r>
              <a:rPr lang="en-US" altLang="en-US" sz="2800" b="1" dirty="0"/>
              <a:t>IS Job Titles and Functions: Support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1118913" y="1371600"/>
            <a:ext cx="6882088" cy="20313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/>
              <a:t>Database administrator (DBA): Design and set up databases to meet organizational needs.</a:t>
            </a:r>
          </a:p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US" altLang="en-US" sz="2800" dirty="0"/>
              <a:t>System support specialist: Respond to telephone calls, email, and other inquiries from users.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30B1C9-BD53-4B3E-A22C-222D38AEF60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753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914400" y="492105"/>
            <a:ext cx="6934200" cy="422295"/>
          </a:xfrm>
        </p:spPr>
        <p:txBody>
          <a:bodyPr/>
          <a:lstStyle/>
          <a:p>
            <a:pPr algn="ctr"/>
            <a:r>
              <a:rPr lang="en-US" altLang="en-US" sz="3200" b="1" dirty="0"/>
              <a:t>Other IS Careers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1597682" y="1219200"/>
            <a:ext cx="7182780" cy="388414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/>
              <a:t>Consulting opportunities.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Computer training.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Computer and computer-equipment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Computer repair and maintenance.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Support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Employment with technology companies.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Entrepreneurial ventures in 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C63A01-8C65-4723-B7B0-600D5DC80975}" type="slidenum">
              <a:rPr lang="en-US" altLang="en-US" sz="1400" smtClean="0">
                <a:solidFill>
                  <a:srgbClr val="222222"/>
                </a:solidFill>
                <a:latin typeface="Arial" panose="020B0604020202020204" pitchFamily="34" charset="0"/>
              </a:rPr>
              <a:pPr/>
              <a:t>11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5333</TotalTime>
  <Words>1009</Words>
  <Application>Microsoft Office PowerPoint</Application>
  <PresentationFormat>On-screen Show (4:3)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Principles of Information Systems (13th Edition) </vt:lpstr>
      <vt:lpstr>Careers in Information Systems</vt:lpstr>
      <vt:lpstr>Careers in Information Systems</vt:lpstr>
      <vt:lpstr>Roles, Functions, and Careers in IS</vt:lpstr>
      <vt:lpstr>Working in Team</vt:lpstr>
      <vt:lpstr>PowerPoint Presentation</vt:lpstr>
      <vt:lpstr>IS Job Titles and Functions</vt:lpstr>
      <vt:lpstr>IS Job Titles and Functions: Operations Roles</vt:lpstr>
      <vt:lpstr>IS Job Titles and Functions: Development Role</vt:lpstr>
      <vt:lpstr>IS Job Titles and Functions: Support</vt:lpstr>
      <vt:lpstr>Other IS Careers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Hu, Tao</cp:lastModifiedBy>
  <cp:revision>266</cp:revision>
  <cp:lastPrinted>2010-11-12T17:54:40Z</cp:lastPrinted>
  <dcterms:created xsi:type="dcterms:W3CDTF">2007-02-15T20:50:52Z</dcterms:created>
  <dcterms:modified xsi:type="dcterms:W3CDTF">2023-02-06T22:10:31Z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1439603344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</Properties>
</file>